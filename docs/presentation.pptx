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81" r:id="rId8"/>
    <p:sldId id="262" r:id="rId9"/>
    <p:sldId id="264" r:id="rId10"/>
    <p:sldId id="282" r:id="rId11"/>
    <p:sldId id="265" r:id="rId12"/>
    <p:sldId id="266" r:id="rId13"/>
    <p:sldId id="268" r:id="rId14"/>
    <p:sldId id="270" r:id="rId15"/>
    <p:sldId id="271" r:id="rId16"/>
    <p:sldId id="272" r:id="rId17"/>
    <p:sldId id="273" r:id="rId18"/>
    <p:sldId id="278" r:id="rId19"/>
    <p:sldId id="283" r:id="rId20"/>
    <p:sldId id="280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4084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1926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27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5940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B4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B7DE9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73152" cy="2011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PHÂN TÍCH LOG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 PHÁT HIỆN BẤT THƯỜNG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THỜI GIAN THỰC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Log Analytics &amp; Anomaly Detection System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 |  Apache Kafka  |  Elasticsearch  |  Kibana  |  Grafana  |  Prometheus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Pipeline  |  Sliding Window Detection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0" y="4572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Tháng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274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NỘI DUNG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502920" cy="320040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1887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thiệu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600200"/>
            <a:ext cx="502920" cy="320040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6002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600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trúc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502920" cy="3200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0116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20116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nghệ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2423160"/>
            <a:ext cx="502920" cy="3200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2316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2423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2834640"/>
            <a:ext cx="502920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83464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2834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thuật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502920" cy="3200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24612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32461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Tối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ưu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chịu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tải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3657600"/>
            <a:ext cx="502920" cy="3200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65760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34440" y="3657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giám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sát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sát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069080"/>
            <a:ext cx="502920" cy="3200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069080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34440" y="4069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luận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5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thiệu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Giới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thiệu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840480" cy="329184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" cy="329184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 smtClean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</a:t>
            </a:r>
            <a:r>
              <a:rPr lang="en-US" sz="1600" b="1" dirty="0" smtClean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toán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trúc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sinh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triệu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phút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thủ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khả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về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nhân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lực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mật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suy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hiệu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báo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sớm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chục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3840480" cy="329184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80160"/>
            <a:ext cx="54864" cy="32918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371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Giai phap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82880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qua Apache 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Đặt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rule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dựa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cửa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trượt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trữ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Elasticsearch,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2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+ Grafana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Gioi thieu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tiêu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thống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54864" cy="1005840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463040"/>
            <a:ext cx="594360" cy="594360"/>
          </a:xfrm>
          <a:prstGeom prst="ellipse">
            <a:avLst/>
          </a:prstGeom>
          <a:solidFill>
            <a:srgbClr val="2B7DE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630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13716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</a:t>
            </a:r>
            <a:r>
              <a:rPr lang="en-US" sz="1600" b="1" dirty="0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</a:t>
            </a:r>
            <a:r>
              <a:rPr lang="en-US" sz="1600" b="1" dirty="0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16916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nghìn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log/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giây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0" indent="0">
              <a:buNone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bị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8046720" cy="100584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468880"/>
            <a:ext cx="54864" cy="10058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2651760"/>
            <a:ext cx="594360" cy="5943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45920" y="2560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600" b="1" dirty="0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600" b="1" dirty="0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600" b="1" dirty="0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288036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spike, latency breach,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failure, auth burst, off-hours access,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silence.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8046720" cy="100584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657600"/>
            <a:ext cx="54864" cy="100584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3840480"/>
            <a:ext cx="594360" cy="594360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8404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45920" y="3749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</a:t>
            </a:r>
            <a:r>
              <a:rPr lang="en-US" sz="1600" b="1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sát</a:t>
            </a:r>
            <a:r>
              <a:rPr lang="en-US" sz="1600" b="1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</a:t>
            </a:r>
            <a:r>
              <a:rPr lang="en-US" sz="1600" b="1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diện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45920" y="40690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log, Grafana dashboard 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dõi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trúc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trúc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kiện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(Event-Driven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920240" cy="292608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71600"/>
            <a:ext cx="192024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1300" b="1" dirty="0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(Ingestion)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3774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31720" y="283464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371600"/>
            <a:ext cx="1920240" cy="292608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0" y="1371600"/>
            <a:ext cx="192024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300" b="1" dirty="0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(Processing)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23774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pipeline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worker goroutines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26280" y="283464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371600"/>
            <a:ext cx="1920240" cy="292608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371600"/>
            <a:ext cx="192024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</a:t>
            </a:r>
            <a:r>
              <a:rPr lang="en-US" sz="1300" b="1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trữ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(Storage)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3774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logs-YYYY.MM.DD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index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283464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1371600"/>
            <a:ext cx="1920240" cy="292608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49440" y="1371600"/>
            <a:ext cx="192024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155448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</a:t>
            </a:r>
            <a:r>
              <a:rPr lang="en-US" sz="1300" b="1" dirty="0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</a:t>
            </a:r>
            <a:r>
              <a:rPr lang="en-US" sz="1300" b="1" dirty="0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(Visualization)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86600" y="237744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+ Grafana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lieu di chuyen mot chieu tu trai sang phai. Producer va consumer tach roi hoan toan qua Kafka.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Kien truc tong the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endParaRPr lang="en-US" sz="2800" dirty="0"/>
          </a:p>
        </p:txBody>
      </p:sp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746" y="1005840"/>
            <a:ext cx="6402674" cy="3420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Kien truc tong the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3820014"/>
              </p:ext>
            </p:extLst>
          </p:nvPr>
        </p:nvGraphicFramePr>
        <p:xfrm>
          <a:off x="548638" y="1188722"/>
          <a:ext cx="7766878" cy="2935282"/>
        </p:xfrm>
        <a:graphic>
          <a:graphicData uri="http://schemas.openxmlformats.org/drawingml/2006/table">
            <a:tbl>
              <a:tblPr/>
              <a:tblGrid>
                <a:gridCol w="18395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3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34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</a:t>
                      </a:r>
                      <a:r>
                        <a:rPr lang="en-US" sz="1100" b="1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="1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phần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F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</a:t>
                      </a:r>
                      <a:r>
                        <a:rPr lang="en-US" sz="1100" b="1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="1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nghệ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F6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Vai</a:t>
                      </a:r>
                      <a:r>
                        <a:rPr lang="en-US" sz="1100" b="1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="1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F6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Queue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7.5 (KRaft)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Hàng</a:t>
                      </a:r>
                      <a:r>
                        <a:rPr lang="en-US" sz="1100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đợi</a:t>
                      </a:r>
                      <a:r>
                        <a:rPr lang="en-US" sz="1100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log</a:t>
                      </a:r>
                      <a:r>
                        <a:rPr lang="en-US" sz="110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partitions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Elasticsearch 9.0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Lưu</a:t>
                      </a:r>
                      <a:r>
                        <a:rPr lang="en-US" sz="1100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trữ</a:t>
                      </a:r>
                      <a:r>
                        <a:rPr lang="en-US" sz="110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</a:t>
                      </a:r>
                      <a:r>
                        <a:rPr lang="en-US" sz="110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truy</a:t>
                      </a:r>
                      <a:r>
                        <a:rPr lang="en-US" sz="1100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vấn</a:t>
                      </a:r>
                      <a:r>
                        <a:rPr lang="en-US" sz="110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+ anomaly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 1.25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</a:t>
                      </a:r>
                      <a:r>
                        <a:rPr lang="en-US" sz="110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xử</a:t>
                      </a:r>
                      <a:r>
                        <a:rPr lang="en-US" sz="1100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lý</a:t>
                      </a:r>
                      <a:r>
                        <a:rPr lang="en-US" sz="110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 </a:t>
                      </a:r>
                      <a:r>
                        <a:rPr lang="en-US" sz="110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phát</a:t>
                      </a:r>
                      <a:r>
                        <a:rPr lang="en-US" sz="1100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hiện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Viewer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Kibana 9.0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Giao</a:t>
                      </a:r>
                      <a:r>
                        <a:rPr lang="en-US" sz="1100" baseline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diện</a:t>
                      </a:r>
                      <a:r>
                        <a:rPr lang="en-US" sz="1100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duyệt</a:t>
                      </a:r>
                      <a:r>
                        <a:rPr lang="en-US" sz="110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 (ELK)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9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Grafana 12.0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3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Prometheus 3.4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Thu</a:t>
                      </a:r>
                      <a:r>
                        <a:rPr lang="en-US" sz="1100" baseline="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baseline="0" dirty="0" err="1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thập</a:t>
                      </a:r>
                      <a:r>
                        <a:rPr lang="en-US" sz="1100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Toan bo 8 container duoc dieu phoi boi Docker Compose. Health check dam bao thu tu khoi dong dung.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4199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Cong nghe su dung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&amp;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931920" cy="18288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KRaft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Giao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thức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thuận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trong broker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vận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Giamr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số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lượng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840480" cy="18288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</a:t>
            </a:r>
            <a:r>
              <a:rPr lang="en-US" sz="1400" b="1" dirty="0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14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thiết</a:t>
            </a:r>
            <a:r>
              <a:rPr lang="en-US" sz="1400" b="1" dirty="0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lập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partitions —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song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I/O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buffer 1MB 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8046720" cy="13716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291840"/>
            <a:ext cx="804672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383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At-Least-Once Delivery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sau khi message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vào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channel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thành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consumer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gặp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lại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document ID trong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đảm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bảo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việc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lại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bản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trùng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lặp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nghệ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Golang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840480" cy="164592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Goroutine vs Thread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ban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KB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phí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đổi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ngữ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cảnh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cực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thấp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hàng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trăm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goroutine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truyền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tin an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toàn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840480" cy="164592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280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</a:t>
            </a:r>
            <a:r>
              <a:rPr lang="en-US" sz="1400" b="1" dirty="0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viện</a:t>
            </a:r>
            <a:r>
              <a:rPr lang="en-US" sz="1400" b="1" dirty="0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</a:t>
            </a:r>
            <a:r>
              <a:rPr lang="en-US" sz="1400" b="1" dirty="0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franz-go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1691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0" y="194767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1947672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router + middleware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20370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go-elasticsearch v9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220370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client + BulkIndexer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45973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errgroup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459736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phối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goroutine lifecycle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8046720" cy="164592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3200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errgroup — </a:t>
            </a:r>
            <a:r>
              <a:rPr lang="en-US" sz="1400" b="1" dirty="0" err="1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</a:t>
            </a:r>
            <a:r>
              <a:rPr lang="en-US" sz="1400" b="1" dirty="0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phối</a:t>
            </a:r>
            <a:r>
              <a:rPr lang="en-US" sz="1400" b="1" dirty="0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</a:t>
            </a:r>
            <a:r>
              <a:rPr lang="en-US" sz="1400" b="1" dirty="0" err="1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goroutine</a:t>
            </a:r>
            <a:r>
              <a:rPr lang="en-US" sz="14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1400" b="1" dirty="0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14400" y="3703320"/>
            <a:ext cx="1554480" cy="822960"/>
          </a:xfrm>
          <a:prstGeom prst="rect">
            <a:avLst/>
          </a:prstGeom>
          <a:solidFill>
            <a:srgbClr val="2B7DE9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033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834640" y="3703320"/>
            <a:ext cx="1554480" cy="822960"/>
          </a:xfrm>
          <a:prstGeom prst="rect">
            <a:avLst/>
          </a:prstGeom>
          <a:solidFill>
            <a:srgbClr val="FF6B3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834640" y="37033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G2-G5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703320"/>
            <a:ext cx="1554480" cy="822960"/>
          </a:xfrm>
          <a:prstGeom prst="rect">
            <a:avLst/>
          </a:prstGeom>
          <a:solidFill>
            <a:srgbClr val="00BFA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37033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75120" y="3703320"/>
            <a:ext cx="1554480" cy="822960"/>
          </a:xfrm>
          <a:prstGeom prst="rect">
            <a:avLst/>
          </a:prstGeom>
          <a:solidFill>
            <a:srgbClr val="4CAF50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675120" y="3703320"/>
            <a:ext cx="1554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G7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nghệ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sử</a:t>
            </a:r>
            <a:r>
              <a:rPr lang="en-US" sz="9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dụng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Golang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đồng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endParaRPr lang="en-US" sz="2800" dirty="0"/>
          </a:p>
        </p:txBody>
      </p:sp>
      <p:pic>
        <p:nvPicPr>
          <p:cNvPr id="32" name="Picture 31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35" y="1005840"/>
            <a:ext cx="7552085" cy="369457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88521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Cong nghe su dung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sinh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thái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8046720" cy="105156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417320"/>
            <a:ext cx="594360" cy="59436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173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4592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9.0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16002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5601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0" y="128016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Duyệt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và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 chi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KQL query language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8046720" cy="105156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2651760"/>
            <a:ext cx="594360" cy="594360"/>
          </a:xfrm>
          <a:prstGeom prst="ellipse">
            <a:avLst/>
          </a:prstGeom>
          <a:solidFill>
            <a:srgbClr val="2B7DE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651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4592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12.0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B7D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3000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0" y="251460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trực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hóa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metric</a:t>
            </a:r>
            <a:endParaRPr lang="en-US" sz="1100" dirty="0"/>
          </a:p>
          <a:p>
            <a:pPr marL="0" indent="0">
              <a:buNone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8046720" cy="105156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" y="3886200"/>
            <a:ext cx="594360" cy="594360"/>
          </a:xfrm>
          <a:prstGeom prst="ellipse">
            <a:avLst/>
          </a:prstGeom>
          <a:solidFill>
            <a:srgbClr val="00BFA5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886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45920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3.4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45920" y="40690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 9090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374904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thập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giay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metric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chính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consumed, latency,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anomaly, lag, write errors, parse errors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Pipeline xu ly du lieu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dữ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liệu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1920240" cy="1463040"/>
          </a:xfrm>
          <a:prstGeom prst="rect">
            <a:avLst/>
          </a:prstGeom>
          <a:solidFill>
            <a:srgbClr val="162A46"/>
          </a:solidFill>
          <a:ln w="19050">
            <a:solidFill>
              <a:srgbClr val="FF6B3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463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PollFetches()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 partitions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1828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560320" y="1371600"/>
            <a:ext cx="1920240" cy="1463040"/>
          </a:xfrm>
          <a:prstGeom prst="rect">
            <a:avLst/>
          </a:prstGeom>
          <a:solidFill>
            <a:srgbClr val="162A46"/>
          </a:solidFill>
          <a:ln w="19050">
            <a:solidFill>
              <a:srgbClr val="2B7DE9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1463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buffer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Backpressure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nhiên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480560" y="1828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846320" y="1371600"/>
            <a:ext cx="1920240" cy="1463040"/>
          </a:xfrm>
          <a:prstGeom prst="rect">
            <a:avLst/>
          </a:prstGeom>
          <a:solidFill>
            <a:srgbClr val="162A46"/>
          </a:solidFill>
          <a:ln w="19050">
            <a:solidFill>
              <a:srgbClr val="00BFA5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1463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Workers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 song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→ Index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Detect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18288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132320" y="1371600"/>
            <a:ext cx="1920240" cy="1463040"/>
          </a:xfrm>
          <a:prstGeom prst="rect">
            <a:avLst/>
          </a:prstGeom>
          <a:solidFill>
            <a:srgbClr val="162A46"/>
          </a:solidFill>
          <a:ln w="19050">
            <a:solidFill>
              <a:srgbClr val="4CAF5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23760" y="146304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BulkIndexer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10MB / 5s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23760" y="21031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 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lô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200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Path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2468880" cy="1005840"/>
          </a:xfrm>
          <a:prstGeom prst="rect">
            <a:avLst/>
          </a:prstGeom>
          <a:solidFill>
            <a:srgbClr val="162A46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611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rules evaluate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17520" y="3794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3383280" y="3566160"/>
            <a:ext cx="2468880" cy="1005840"/>
          </a:xfrm>
          <a:prstGeom prst="rect">
            <a:avLst/>
          </a:prstGeom>
          <a:solidFill>
            <a:srgbClr val="162A46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611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 buffer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47472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path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52160" y="37947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217920" y="3566160"/>
            <a:ext cx="2468880" cy="1005840"/>
          </a:xfrm>
          <a:prstGeom prst="rect">
            <a:avLst/>
          </a:prstGeom>
          <a:solidFill>
            <a:srgbClr val="162A46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36118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309360" y="4114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+ Alert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Pipeline xu ly du lieu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Worker Goroutines —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song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371600" cy="2743200"/>
          </a:xfrm>
          <a:prstGeom prst="rect">
            <a:avLst/>
          </a:prstGeom>
          <a:solidFill>
            <a:srgbClr val="2B7DE9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71600"/>
            <a:ext cx="1371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20240" y="269748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29297" y="1280160"/>
            <a:ext cx="1463040" cy="594360"/>
          </a:xfrm>
          <a:prstGeom prst="rect">
            <a:avLst/>
          </a:prstGeom>
          <a:solidFill>
            <a:srgbClr val="00BFA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29297" y="12801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920240" y="269748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9297" y="2011680"/>
            <a:ext cx="1463040" cy="594360"/>
          </a:xfrm>
          <a:prstGeom prst="rect">
            <a:avLst/>
          </a:prstGeom>
          <a:solidFill>
            <a:srgbClr val="00BFA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429297" y="20116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20240" y="269748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29297" y="2743200"/>
            <a:ext cx="1463040" cy="594360"/>
          </a:xfrm>
          <a:prstGeom prst="rect">
            <a:avLst/>
          </a:prstGeom>
          <a:solidFill>
            <a:srgbClr val="00BFA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29297" y="27432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20240" y="2697480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29297" y="3474720"/>
            <a:ext cx="1463040" cy="594360"/>
          </a:xfrm>
          <a:prstGeom prst="rect">
            <a:avLst/>
          </a:prstGeom>
          <a:solidFill>
            <a:srgbClr val="00BFA5"/>
          </a:solidFill>
          <a:ln/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29297" y="34747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1280160"/>
            <a:ext cx="1463040" cy="292608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97680" y="1280160"/>
            <a:ext cx="146304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Parse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389120" y="1828800"/>
            <a:ext cx="1280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-&gt; LogEntry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Plain-text fallback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 JSON loi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0" y="1280160"/>
            <a:ext cx="1463040" cy="292608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0" y="1280160"/>
            <a:ext cx="146304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26" name="Text 24"/>
          <p:cNvSpPr/>
          <p:nvPr/>
        </p:nvSpPr>
        <p:spPr>
          <a:xfrm>
            <a:off x="603504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Index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35040" y="1828800"/>
            <a:ext cx="1280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BulkIndexer.Add()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doc ID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write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589520" y="1280160"/>
            <a:ext cx="1463040" cy="292608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589520" y="1280160"/>
            <a:ext cx="1463040" cy="5486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0" name="Text 28"/>
          <p:cNvSpPr/>
          <p:nvPr/>
        </p:nvSpPr>
        <p:spPr>
          <a:xfrm>
            <a:off x="7680960" y="1417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Detect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80960" y="1828800"/>
            <a:ext cx="12801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engine.Evaluate()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rules check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-&gt; channel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runtime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động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phối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nào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đang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sẵn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sàng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Thuat toan phat hien bat thuong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Cửa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sổ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trượt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(Sliding Window)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029200" cy="22860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280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Buffer — Capacity 10,000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594360" cy="594360"/>
          </a:xfrm>
          <a:prstGeom prst="rect">
            <a:avLst/>
          </a:prstGeom>
          <a:solidFill>
            <a:srgbClr val="162A46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81328" y="1828800"/>
            <a:ext cx="594360" cy="594360"/>
          </a:xfrm>
          <a:prstGeom prst="rect">
            <a:avLst/>
          </a:prstGeom>
          <a:solidFill>
            <a:srgbClr val="162A46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81328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09:58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39696" y="1828800"/>
            <a:ext cx="594360" cy="594360"/>
          </a:xfrm>
          <a:prstGeom prst="rect">
            <a:avLst/>
          </a:prstGeom>
          <a:solidFill>
            <a:srgbClr val="162A46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9696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98064" y="1828800"/>
            <a:ext cx="594360" cy="594360"/>
          </a:xfrm>
          <a:prstGeom prst="rect">
            <a:avLst/>
          </a:prstGeom>
          <a:solidFill>
            <a:srgbClr val="162A46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98064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56432" y="1828800"/>
            <a:ext cx="594360" cy="594360"/>
          </a:xfrm>
          <a:prstGeom prst="rect">
            <a:avLst/>
          </a:prstGeom>
          <a:solidFill>
            <a:srgbClr val="162A46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56432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09:55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1828800"/>
            <a:ext cx="594360" cy="594360"/>
          </a:xfrm>
          <a:prstGeom prst="rect">
            <a:avLst/>
          </a:prstGeom>
          <a:solidFill>
            <a:srgbClr val="162A46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10:04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73168" y="1828800"/>
            <a:ext cx="594360" cy="594360"/>
          </a:xfrm>
          <a:prstGeom prst="rect">
            <a:avLst/>
          </a:prstGeom>
          <a:solidFill>
            <a:srgbClr val="0B1929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2560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█ Trong window (&lt; 5 phut)    </a:t>
            </a: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█ Ngoai window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28346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KHONG tang dan — Kafka 3 partitions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song song nen phai scan TOAN BO buffer.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852160" y="1188720"/>
            <a:ext cx="2743200" cy="22860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12801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</a:t>
            </a:r>
            <a:r>
              <a:rPr lang="en-US" sz="14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thao</a:t>
            </a:r>
            <a:r>
              <a:rPr lang="en-US" sz="1400" b="1" dirty="0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26480" y="1691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Add(t)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26480" y="19019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</a:t>
            </a:r>
            <a:r>
              <a:rPr lang="en-US" sz="9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tại</a:t>
            </a:r>
            <a:r>
              <a:rPr lang="en-US" sz="9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% cap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6480" y="225856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CountWithin(d)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24688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Scan all, dem &gt; cutoff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26480" y="28254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10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Evict(d)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26480" y="30358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Compact, moi 30s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3749040"/>
            <a:ext cx="8046720" cy="100584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3749040"/>
            <a:ext cx="8046720" cy="5486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4" name="Text 32"/>
          <p:cNvSpPr/>
          <p:nvPr/>
        </p:nvSpPr>
        <p:spPr>
          <a:xfrm>
            <a:off x="82296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day → Effective window bi rut ngan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2960" y="416052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10,000 / 300s window = toi da 33 msg/s/service. Rate cao hon → entry moi ghi de entry cu → window thuc te &lt; 5 phut.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Thuat toan phat hien bat thuong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rule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nghĩa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840480" cy="32004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3840480" cy="5486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 Spike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tang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đột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của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 errors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phut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063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</a:t>
            </a:r>
            <a:r>
              <a:rPr lang="en-US" sz="10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dõi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service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4747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</a:t>
            </a: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đến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timestamp → CountWithin(5m) → ≥ 10 → FIRE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188720"/>
            <a:ext cx="38404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Threshold Breach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199" y="1645920"/>
            <a:ext cx="34642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yêu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cầu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càu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trễ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vượt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(timeout)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103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0" y="21031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500ms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rate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24231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2743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r>
              <a:rPr lang="en-US" sz="11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phút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3063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30632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347472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breach_rate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(breaches × 100) / total ≥ 20% → FIRE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Thuat toan phat hien bat thuong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840480" cy="32004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3840480" cy="54864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Failure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lặp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lại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mẫu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vấn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đề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Fingerprinting: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+ hex → "X"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"timeout req abc1234 after 5000ms"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"timeout req X after Xms"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service|fingerprint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Nguong: ≥ 5 lan trong 5 phut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MEDIUM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384048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7D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Failure Burst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tấn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xác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01168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diện</a:t>
            </a:r>
            <a:r>
              <a:rPr lang="en-US" sz="11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failure: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khóa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login, unauthorized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Hoac: auth_result = "failure"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dõi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source_ip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username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Ngưỡng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 failures / 5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phút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IP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HIGH</a:t>
            </a:r>
            <a:endParaRPr lang="en-US" sz="1100" dirty="0"/>
          </a:p>
        </p:txBody>
      </p:sp>
      <p:sp>
        <p:nvSpPr>
          <p:cNvPr id="16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rule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nghĩa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</a:t>
            </a:r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Thuat toan phat hien bat thuong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3840480" cy="32004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3840480" cy="54864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Off-Hours Access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cập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nhạy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việc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kiện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 path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thuộc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danh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sách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nhạy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cảm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/admin, /api/v1/users, /internal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Điều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kiện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ngoài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giờ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làm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việc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Cả</a:t>
            </a:r>
            <a:r>
              <a:rPr lang="en-US" sz="1100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</a:t>
            </a:r>
            <a:r>
              <a:rPr lang="en-US" sz="11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thỏa</a:t>
            </a:r>
            <a:r>
              <a:rPr lang="en-US" sz="1100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mãn</a:t>
            </a:r>
            <a:r>
              <a:rPr lang="en-US" sz="1100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00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</a:t>
            </a:r>
            <a:r>
              <a:rPr lang="en-US" sz="11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3840480" cy="32004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188720"/>
            <a:ext cx="3840480" cy="5486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Silence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Dịch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vụ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ngừng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—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thể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gặp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</a:t>
            </a:r>
            <a:r>
              <a:rPr lang="en-US" sz="10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cố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011680"/>
            <a:ext cx="3383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b="1" dirty="0" err="1" smtClean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</a:t>
            </a:r>
            <a:r>
              <a:rPr lang="en-US" sz="1100" b="1" dirty="0" smtClean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 err="1" smtClean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hình</a:t>
            </a:r>
            <a:r>
              <a:rPr lang="en-US" sz="1100" b="1" dirty="0" smtClean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pha: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 1 (Evaluate):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đếm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log/service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</a:t>
            </a:r>
            <a:r>
              <a:rPr lang="en-US" sz="11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đầu</a:t>
            </a:r>
            <a:r>
              <a:rPr lang="en-US" sz="11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1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dõi</a:t>
            </a:r>
            <a:r>
              <a:rPr lang="en-US" sz="11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</a:t>
            </a:r>
            <a:r>
              <a:rPr lang="en-US" sz="11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</a:t>
            </a:r>
            <a:r>
              <a:rPr lang="en-US" sz="11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</a:t>
            </a: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</a:t>
            </a:r>
            <a:r>
              <a:rPr lang="en-US" sz="1100" i="1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 2 (CheckSilence): heartbeat 30s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F53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lang &gt; 5 phut → FIRE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Severity: </a:t>
            </a:r>
            <a:r>
              <a:rPr lang="en-US" sz="1100" dirty="0" smtClean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16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rule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nghĩa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He thong giam sat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Grafana &amp; Kibana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187032"/>
            <a:ext cx="2490973" cy="32004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7032"/>
            <a:ext cx="2490973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r>
              <a:rPr lang="en-US" sz="1400" b="1" dirty="0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Dashboard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737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Analytics &amp; Anomaly Detection: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009992"/>
            <a:ext cx="2490973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Tỷ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lệ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</a:t>
            </a:r>
            <a:r>
              <a:rPr lang="en-US" sz="10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gian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Độ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trễ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(p50/p95/p99)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rate </a:t>
            </a:r>
            <a:r>
              <a:rPr lang="en-US" sz="10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rule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lag, ES errors, parse errors</a:t>
            </a:r>
            <a:endParaRPr lang="en-US" sz="1000" dirty="0"/>
          </a:p>
        </p:txBody>
      </p:sp>
      <p:pic>
        <p:nvPicPr>
          <p:cNvPr id="17" name="Picture 16"/>
          <p:cNvPicPr/>
          <p:nvPr/>
        </p:nvPicPr>
        <p:blipFill>
          <a:blip r:embed="rId3"/>
          <a:stretch>
            <a:fillRect/>
          </a:stretch>
        </p:blipFill>
        <p:spPr>
          <a:xfrm>
            <a:off x="3155315" y="1187032"/>
            <a:ext cx="5805805" cy="29019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B7DE9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He thong giam sat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r>
              <a:rPr lang="en-US" sz="28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Grafana &amp; Kibana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536367" y="1280160"/>
            <a:ext cx="2147306" cy="257932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6367" y="1243280"/>
            <a:ext cx="2147306" cy="56997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15" name="Text 13"/>
          <p:cNvSpPr/>
          <p:nvPr/>
        </p:nvSpPr>
        <p:spPr>
          <a:xfrm>
            <a:off x="536367" y="1405890"/>
            <a:ext cx="2190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</a:t>
            </a:r>
            <a:r>
              <a:rPr lang="en-US" sz="1400" b="1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Log Viewer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7052" y="1823162"/>
            <a:ext cx="2147306" cy="17795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Trang Discover: </a:t>
            </a:r>
            <a:r>
              <a:rPr lang="en-US" sz="10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</a:t>
            </a:r>
            <a:r>
              <a:rPr lang="en-US" sz="10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tiết</a:t>
            </a:r>
            <a:r>
              <a:rPr lang="en-US" sz="10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KQL filter: service, level, IP...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Data View tu dong: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Logs (logs-*)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(anomalies)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endParaRPr lang="en-US" sz="1000" dirty="0"/>
          </a:p>
        </p:txBody>
      </p:sp>
      <p:pic>
        <p:nvPicPr>
          <p:cNvPr id="18" name="Picture 17"/>
          <p:cNvPicPr/>
          <p:nvPr/>
        </p:nvPicPr>
        <p:blipFill>
          <a:blip r:embed="rId3"/>
          <a:stretch>
            <a:fillRect/>
          </a:stretch>
        </p:blipFill>
        <p:spPr>
          <a:xfrm>
            <a:off x="2834640" y="1243280"/>
            <a:ext cx="5589270" cy="261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417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22B45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B7DE9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luận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</a:t>
            </a:r>
            <a:r>
              <a:rPr lang="en-US" sz="3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32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097280"/>
            <a:ext cx="3840480" cy="32004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54864" cy="3200400"/>
          </a:xfrm>
          <a:prstGeom prst="rect">
            <a:avLst/>
          </a:prstGeom>
          <a:solidFill>
            <a:srgbClr val="00BFA5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Đã</a:t>
            </a:r>
            <a:r>
              <a:rPr lang="en-US" sz="1600" b="1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đạt</a:t>
            </a:r>
            <a:r>
              <a:rPr lang="en-US" sz="1600" b="1" dirty="0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được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6002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trúc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với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Go pipeline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bất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thường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Xử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lý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song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đa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cấp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(Kafka, Worker, 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processing (SHA-256 doc ID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 smtClean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Prometheus</a:t>
            </a:r>
            <a:endParaRPr lang="en-US" sz="1100" dirty="0" smtClean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PASS: 180K msgs, 582 msg/s, 100%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840480" cy="3200400"/>
          </a:xfrm>
          <a:prstGeom prst="rect">
            <a:avLst/>
          </a:prstGeom>
          <a:solidFill>
            <a:srgbClr val="162A46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54864" cy="32004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188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</a:t>
            </a:r>
            <a:r>
              <a:rPr lang="en-US" sz="1600" b="1" dirty="0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600" b="1" dirty="0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 smtClean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triển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600200"/>
            <a:ext cx="33832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Tích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hợp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AlertChannel: Slack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Mail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tắc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hiện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dựa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instance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</a:t>
            </a:r>
            <a:r>
              <a:rPr lang="en-US" sz="11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cao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hơn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thông</a:t>
            </a:r>
            <a:r>
              <a:rPr lang="en-US" sz="1100" dirty="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tin metrics </a:t>
            </a:r>
            <a:r>
              <a:rPr lang="en-US" sz="1100" dirty="0" err="1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hơn</a:t>
            </a:r>
            <a:r>
              <a:rPr lang="en-US" sz="1100" smtClean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| Event-Driven | Real-time Detection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1613</Words>
  <Application>Microsoft Office PowerPoint</Application>
  <PresentationFormat>On-screen Show (16:9)</PresentationFormat>
  <Paragraphs>370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 thong Phan tich Log va Phat hien Bat thuong Thoi gian thuc</dc:title>
  <dc:subject>PptxGenJS Presentation</dc:subject>
  <dc:creator>Log Analytics Team</dc:creator>
  <cp:lastModifiedBy>Nguyễn Tiến Lâm</cp:lastModifiedBy>
  <cp:revision>79</cp:revision>
  <dcterms:created xsi:type="dcterms:W3CDTF">2026-04-14T17:38:46Z</dcterms:created>
  <dcterms:modified xsi:type="dcterms:W3CDTF">2026-04-15T09:59:38Z</dcterms:modified>
</cp:coreProperties>
</file>