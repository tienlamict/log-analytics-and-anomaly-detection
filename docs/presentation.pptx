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81" r:id="rId8"/>
    <p:sldId id="262" r:id="rId9"/>
    <p:sldId id="264" r:id="rId10"/>
    <p:sldId id="282" r:id="rId11"/>
    <p:sldId id="265" r:id="rId12"/>
    <p:sldId id="266" r:id="rId13"/>
    <p:sldId id="268" r:id="rId14"/>
    <p:sldId id="270" r:id="rId15"/>
    <p:sldId id="271" r:id="rId16"/>
    <p:sldId id="272" r:id="rId17"/>
    <p:sldId id="273" r:id="rId18"/>
    <p:sldId id="278" r:id="rId19"/>
    <p:sldId id="283" r:id="rId20"/>
    <p:sldId id="28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47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4084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1926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2273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9402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B45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2B7DE9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85216" y="384810"/>
            <a:ext cx="73152" cy="2011680"/>
          </a:xfrm>
          <a:prstGeom prst="rect">
            <a:avLst/>
          </a:prstGeom>
          <a:solidFill>
            <a:srgbClr val="FF6B3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384810"/>
            <a:ext cx="7315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PHÂN TÍCH LOG</a:t>
            </a:r>
            <a:endParaRPr lang="en-US" sz="3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PHÁT HIỆN BẤT THƯỜNG</a:t>
            </a:r>
            <a:endParaRPr lang="en-US" sz="36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6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THỜI GIAN THỰC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585216" y="239903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Log Analytics &amp; Anomaly Detection System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 |  Apache Kafka  |  Elasticsearch  |  Kibana  |  Grafana  |  Prometheus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Pipeline  |  Sliding Window Detection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0" y="45720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4/2026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585216" y="2868295"/>
            <a:ext cx="3867658" cy="10610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viên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dẫn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TS. </a:t>
            </a:r>
            <a:r>
              <a:rPr lang="en-US" sz="1100" b="1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Trịnh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Tuấn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</a:t>
            </a:r>
            <a:endParaRPr lang="en-US" sz="1100" b="1" i="1" dirty="0">
              <a:solidFill>
                <a:schemeClr val="accent5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100" b="1" i="1" dirty="0" smtClean="0">
              <a:solidFill>
                <a:schemeClr val="accent5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5:</a:t>
            </a:r>
            <a:b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</a:t>
            </a:r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Đoàn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 err="1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Ngọc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 </a:t>
            </a:r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20251067M </a:t>
            </a:r>
            <a:endParaRPr lang="en-US" sz="1100" b="1" i="1" dirty="0" smtClean="0">
              <a:solidFill>
                <a:schemeClr val="accent5">
                  <a:lumMod val="60000"/>
                  <a:lumOff val="40000"/>
                </a:schemeClr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1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Nguyễn Tiến </a:t>
            </a:r>
            <a:r>
              <a:rPr lang="en-US" sz="1100" b="1" i="1" dirty="0">
                <a:solidFill>
                  <a:schemeClr val="accent5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Lâm - 20251061M </a:t>
            </a:r>
            <a:endParaRPr lang="en-US" sz="1100" b="1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2743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502920" cy="3200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34440" y="1188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thiệu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502920" cy="3200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60020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3444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011680"/>
            <a:ext cx="502920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01168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34440" y="20116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423160"/>
            <a:ext cx="502920" cy="3200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42316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4440" y="24231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2834640"/>
            <a:ext cx="502920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83464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34440" y="2834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15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246120"/>
            <a:ext cx="502920" cy="3200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24612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34440" y="32461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giám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sát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3657600"/>
            <a:ext cx="502920" cy="3200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657600"/>
            <a:ext cx="502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34440" y="3657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luận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3840480" cy="3291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3291840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</a:t>
            </a:r>
            <a:r>
              <a:rPr lang="en-US" sz="1600" b="1" dirty="0" smtClean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82880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microservice sinh </a:t>
            </a:r>
            <a:r>
              <a:rPr lang="en-US" sz="1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triệu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thủ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về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lực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mật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suy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giảm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báo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sớm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chục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1280160"/>
            <a:ext cx="3840480" cy="3291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280160"/>
            <a:ext cx="54864" cy="32918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Giai phap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82880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Tiếp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qua Apache 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luồng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Đặt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dựa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cửa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trượt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trữ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Elasticsearch,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</a:t>
            </a:r>
            <a:r>
              <a:rPr lang="en-US" sz="1200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+ Grafana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Gioi thieu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54864" cy="1005840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8" name="Shape 6"/>
          <p:cNvSpPr/>
          <p:nvPr/>
        </p:nvSpPr>
        <p:spPr>
          <a:xfrm>
            <a:off x="822960" y="1463040"/>
            <a:ext cx="594360" cy="594360"/>
          </a:xfrm>
          <a:prstGeom prst="ellipse">
            <a:avLst/>
          </a:prstGeom>
          <a:solidFill>
            <a:srgbClr val="2B7DE9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463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13716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</a:t>
            </a:r>
            <a:r>
              <a:rPr lang="en-US" sz="16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lượng</a:t>
            </a:r>
            <a:r>
              <a:rPr lang="en-US" sz="16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16916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nghìn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log/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giây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bị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6888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2468880"/>
            <a:ext cx="54864" cy="100584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2651760"/>
            <a:ext cx="594360" cy="5943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51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25603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6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6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</a:t>
            </a:r>
            <a:r>
              <a:rPr lang="en-US" sz="16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288036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loại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spike, latency breach,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failure, auth burst, off-hours access,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silence.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657600"/>
            <a:ext cx="54864" cy="100584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3840480"/>
            <a:ext cx="594360" cy="59436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840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37490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</a:t>
            </a:r>
            <a:r>
              <a:rPr lang="en-US" sz="16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sát</a:t>
            </a:r>
            <a:r>
              <a:rPr lang="en-US" sz="16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</a:t>
            </a:r>
            <a:r>
              <a:rPr lang="en-US" sz="16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diện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45920" y="40690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log, Grafana dashboard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dõi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kiện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(Event-Driven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371600"/>
            <a:ext cx="192024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Tiếp</a:t>
            </a:r>
            <a:r>
              <a:rPr lang="en-US" sz="13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(Ingestion)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3172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560320" y="1371600"/>
            <a:ext cx="192024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3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(Processing)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9748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pipeline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goroutines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Engine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1371600"/>
            <a:ext cx="192024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8" name="Text 16"/>
          <p:cNvSpPr/>
          <p:nvPr/>
        </p:nvSpPr>
        <p:spPr>
          <a:xfrm>
            <a:off x="489204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</a:t>
            </a:r>
            <a:r>
              <a:rPr lang="en-US" sz="13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trữ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(Storage)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9204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logs-YYYY.MM.DD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index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2834640"/>
            <a:ext cx="1828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49440" y="1371600"/>
            <a:ext cx="19202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949440" y="1371600"/>
            <a:ext cx="192024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3" name="Text 21"/>
          <p:cNvSpPr/>
          <p:nvPr/>
        </p:nvSpPr>
        <p:spPr>
          <a:xfrm>
            <a:off x="7086600" y="15544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</a:t>
            </a:r>
            <a:r>
              <a:rPr lang="en-US" sz="1300" b="1" dirty="0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</a:t>
            </a:r>
            <a:r>
              <a:rPr lang="en-US" sz="1300" b="1" dirty="0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(Visualization)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237744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+ Grafana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" y="4480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lieu di chuyen mot chieu tu trai sang phai. Producer va consumer tach roi hoan toan qua Kafka.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</a:t>
            </a:r>
            <a:endParaRPr lang="en-US" sz="2800" dirty="0"/>
          </a:p>
        </p:txBody>
      </p:sp>
      <p:pic>
        <p:nvPicPr>
          <p:cNvPr id="8" name="Picture 7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746" y="1005840"/>
            <a:ext cx="6402674" cy="342078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3820014"/>
              </p:ext>
            </p:extLst>
          </p:nvPr>
        </p:nvGraphicFramePr>
        <p:xfrm>
          <a:off x="548638" y="1188722"/>
          <a:ext cx="7766878" cy="2935282"/>
        </p:xfrm>
        <a:graphic>
          <a:graphicData uri="http://schemas.openxmlformats.org/drawingml/2006/table">
            <a:tbl>
              <a:tblPr/>
              <a:tblGrid>
                <a:gridCol w="18395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39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34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Thành</a:t>
                      </a:r>
                      <a:r>
                        <a:rPr lang="en-US" sz="1100" b="1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="1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phần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Công</a:t>
                      </a:r>
                      <a:r>
                        <a:rPr lang="en-US" sz="1100" b="1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="1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nghệ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Vai</a:t>
                      </a:r>
                      <a:r>
                        <a:rPr lang="en-US" sz="1100" b="1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="1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F6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Queue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7.5 (KRaft)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Hàng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đợi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log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partitions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Elasticsearch 9.0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Lưu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trữ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 </a:t>
                      </a: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truy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vấn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+ anomaly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App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1.25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</a:t>
                      </a: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xử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lý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 </a:t>
                      </a: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phát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hiện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Viewer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Kibana 9.0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Giao</a:t>
                      </a:r>
                      <a:r>
                        <a:rPr lang="en-US" sz="1100" baseline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diện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duyệt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(ELK)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Grafana 12.0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32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Prometheus 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Thu</a:t>
                      </a:r>
                      <a:r>
                        <a:rPr lang="en-US" sz="1100" baseline="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baseline="0" dirty="0" err="1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thập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4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Toan bo 8 container duoc dieu phoi boi Docker Compose. Health check dam bao thu tu khoi dong dung.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41995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 Kafka &amp;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931920" cy="18288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thức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Raft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broker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hành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Giamr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2801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partitions —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song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x3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luồng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I/O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buffer 1MB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291840"/>
            <a:ext cx="804672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383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At-Least-Once Delivery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3749040"/>
            <a:ext cx="7589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sau khi message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channel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 consumer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gặp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lại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document ID trong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đảm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việc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lại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trùng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lặp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6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Golang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 vs Thread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69164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ban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ngữ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cảnh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cực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thấp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trăm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tin an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84048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2920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viện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691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franz-go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0" y="16916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0" y="19476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1947672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router + middleware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20370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go-elasticsearch v9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220370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client + BulkIndexer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0" y="2459736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errgroup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0" y="2459736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phối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 lifecycle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8046720" cy="16459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errgroup — </a:t>
            </a:r>
            <a:r>
              <a:rPr lang="en-US" sz="14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</a:t>
            </a:r>
            <a:r>
              <a:rPr lang="en-US" sz="1400" b="1" dirty="0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phối</a:t>
            </a:r>
            <a:r>
              <a:rPr lang="en-US" sz="1400" b="1" dirty="0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</a:t>
            </a:r>
            <a:r>
              <a:rPr lang="en-US" sz="1400" b="1" dirty="0" err="1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goroutine</a:t>
            </a: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1400" b="1" dirty="0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14400" y="3703320"/>
            <a:ext cx="1554480" cy="822960"/>
          </a:xfrm>
          <a:prstGeom prst="rect">
            <a:avLst/>
          </a:prstGeom>
          <a:solidFill>
            <a:srgbClr val="2B7DE9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834640" y="3703320"/>
            <a:ext cx="1554480" cy="822960"/>
          </a:xfrm>
          <a:prstGeom prst="rect">
            <a:avLst/>
          </a:prstGeom>
          <a:solidFill>
            <a:srgbClr val="FF6B3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283464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G2-G5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3703320"/>
            <a:ext cx="1554480" cy="822960"/>
          </a:xfrm>
          <a:prstGeom prst="rect">
            <a:avLst/>
          </a:prstGeom>
          <a:solidFill>
            <a:srgbClr val="00BFA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Server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75120" y="3703320"/>
            <a:ext cx="1554480" cy="822960"/>
          </a:xfrm>
          <a:prstGeom prst="rect">
            <a:avLst/>
          </a:prstGeom>
          <a:solidFill>
            <a:srgbClr val="4CAF50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675120" y="37033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G7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Golang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endParaRPr lang="en-US" sz="2800" dirty="0"/>
          </a:p>
        </p:txBody>
      </p:sp>
      <p:pic>
        <p:nvPicPr>
          <p:cNvPr id="32" name="Picture 31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635" y="1005840"/>
            <a:ext cx="7552085" cy="369457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88521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dụng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monitor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417320"/>
            <a:ext cx="594360" cy="594360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4592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 9.0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16002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5601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128016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chi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 query language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2316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2651760"/>
            <a:ext cx="594360" cy="594360"/>
          </a:xfrm>
          <a:prstGeom prst="ellipse">
            <a:avLst/>
          </a:prstGeom>
          <a:solidFill>
            <a:srgbClr val="2B7DE9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6517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25146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12.0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64592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B7D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3000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0" y="251460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hóa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metric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+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22960" y="3886200"/>
            <a:ext cx="594360" cy="594360"/>
          </a:xfrm>
          <a:prstGeom prst="ellipse">
            <a:avLst/>
          </a:prstGeom>
          <a:solidFill>
            <a:srgbClr val="00BFA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8862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645920" y="374904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3.4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 9090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114800" y="3749040"/>
            <a:ext cx="42976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thập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giay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metric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consumed, latency,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anomaly, lag, write errors, parse errors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FF6B3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PollFetches()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 partitions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94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60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2B7DE9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buffer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Backpressure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nhiên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80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 song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Index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Detect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18288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132320" y="1371600"/>
            <a:ext cx="1920240" cy="1463040"/>
          </a:xfrm>
          <a:prstGeom prst="rect">
            <a:avLst/>
          </a:prstGeom>
          <a:solidFill>
            <a:srgbClr val="162A46"/>
          </a:solidFill>
          <a:ln w="19050">
            <a:solidFill>
              <a:srgbClr val="4CAF50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23760" y="146304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 / 5s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223760" y="21031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lô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2004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Path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EF53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rules evaluate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17520" y="3794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338328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47472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Ch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1,024 buffer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472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path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52160" y="37947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217920" y="3566160"/>
            <a:ext cx="2468880" cy="1005840"/>
          </a:xfrm>
          <a:prstGeom prst="rect">
            <a:avLst/>
          </a:prstGeom>
          <a:solidFill>
            <a:srgbClr val="162A4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0" y="36118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Dispatcher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09360" y="41148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+ Alert</a:t>
            </a:r>
            <a:endParaRPr lang="en-US" sz="1000" dirty="0"/>
          </a:p>
        </p:txBody>
      </p:sp>
      <p:sp>
        <p:nvSpPr>
          <p:cNvPr id="33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Pipeline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liệu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Worker Goroutines —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song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371600" cy="2743200"/>
          </a:xfrm>
          <a:prstGeom prst="rect">
            <a:avLst/>
          </a:prstGeom>
          <a:solidFill>
            <a:srgbClr val="2B7DE9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371600"/>
            <a:ext cx="1371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29297" y="128016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29297" y="128016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29297" y="201168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29297" y="201168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29297" y="274320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29297" y="274320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920240" y="2697480"/>
            <a:ext cx="4572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429297" y="3474720"/>
            <a:ext cx="1463040" cy="594360"/>
          </a:xfrm>
          <a:prstGeom prst="rect">
            <a:avLst/>
          </a:prstGeom>
          <a:solidFill>
            <a:srgbClr val="00BFA5"/>
          </a:solidFill>
          <a:ln/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429297" y="347472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4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9768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97680" y="1280160"/>
            <a:ext cx="146304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Parse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-&gt; LogEntry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Plain-text fallback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 JSON loi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4360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943600" y="1280160"/>
            <a:ext cx="146304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Index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3504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BulkIndexer.Add()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doc ID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write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589520" y="1280160"/>
            <a:ext cx="1463040" cy="292608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89520" y="1280160"/>
            <a:ext cx="146304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30" name="Text 28"/>
          <p:cNvSpPr/>
          <p:nvPr/>
        </p:nvSpPr>
        <p:spPr>
          <a:xfrm>
            <a:off x="7680960" y="141732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Detect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680960" y="1828800"/>
            <a:ext cx="12801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engine.Evaluate()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rules check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-&gt; channel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runtime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phối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đến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nào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sàng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Cửa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sổ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trượt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(Sliding Window)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502920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Buffer — Capacity 10,000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81328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81328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09:58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139696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39696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10:05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798064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56432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56432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09:55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1828800"/>
            <a:ext cx="594360" cy="594360"/>
          </a:xfrm>
          <a:prstGeom prst="rect">
            <a:avLst/>
          </a:prstGeom>
          <a:solidFill>
            <a:srgbClr val="162A46"/>
          </a:solidFill>
          <a:ln w="19050">
            <a:solidFill>
              <a:srgbClr val="00BFA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0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10:04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1828800"/>
            <a:ext cx="594360" cy="594360"/>
          </a:xfrm>
          <a:prstGeom prst="rect">
            <a:avLst/>
          </a:prstGeom>
          <a:solidFill>
            <a:srgbClr val="0B1929"/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1828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" y="25603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█ Trong window (&lt; 5 phut)    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█ Ngoai window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28346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Timestamp KHONG tang dan — Kafka 3 partitions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song song nen phai scan TOAN BO buffer.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852160" y="1188720"/>
            <a:ext cx="2743200" cy="22860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126480" y="1280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thao</a:t>
            </a:r>
            <a:r>
              <a:rPr lang="en-US" sz="1400" b="1" dirty="0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 smtClean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26480" y="1691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Add(t)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26480" y="1901952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—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tại</a:t>
            </a:r>
            <a:r>
              <a:rPr lang="en-US" sz="9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% cap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126480" y="225856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CountWithin(d)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26480" y="2468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— Scan all, dem &gt; cutoff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126480" y="2825496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C10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Evict(d)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26480" y="3035808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— Compact, moi 30s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3749040"/>
            <a:ext cx="804672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day → Effective window bi rut ngan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22960" y="4160520"/>
            <a:ext cx="7589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10,000 / 300s window = toi da 33 msg/s/service. Rate cao hon → entry moi ghi de entry cu → window thuc te &lt; 5 phut.</a:t>
            </a:r>
            <a:endParaRPr lang="en-US" sz="1100" dirty="0"/>
          </a:p>
        </p:txBody>
      </p:sp>
      <p:sp>
        <p:nvSpPr>
          <p:cNvPr id="36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nghĩa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Rate Spike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tang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biến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của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 errors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9456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phut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2743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19456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</a:t>
            </a:r>
            <a:r>
              <a:rPr lang="en-US" sz="10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dõi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19456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service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34747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đến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timestamp → CountWithin(5m) → ≥ 10 → FIRE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FFC107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Threshold Breach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199" y="1645920"/>
            <a:ext cx="3464287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yêu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cầu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càu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trễ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(timeout)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1031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500ms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0" y="24231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20%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029200" y="2743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27432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3063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0" y="30632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029200" y="3474720"/>
            <a:ext cx="3383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breach_rate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(breaches × 100) / total ≥ 20% → FIRE</a:t>
            </a:r>
            <a:endParaRPr lang="en-US" sz="1000" dirty="0"/>
          </a:p>
        </p:txBody>
      </p:sp>
      <p:sp>
        <p:nvSpPr>
          <p:cNvPr id="32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Failure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lặp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lại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vấn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Fingerprinting: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+ hex → "X"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"timeout req abc1234 after 5000ms"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"timeout req X after Xms"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service|fingerprint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Nguong: ≥ 5 lan trong 5 phut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MEDIUM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B7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Failure Burst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brute-force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diện</a:t>
            </a:r>
            <a:r>
              <a:rPr lang="en-US" sz="11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failure: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auth, login, unauthorized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Hoac: auth_result = "failure"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dõi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source_ip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username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 failures / 5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phút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IP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HIGH</a:t>
            </a:r>
            <a:endParaRPr lang="en-US" sz="1100" dirty="0"/>
          </a:p>
        </p:txBody>
      </p:sp>
      <p:sp>
        <p:nvSpPr>
          <p:cNvPr id="16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nghĩa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2800" dirty="0"/>
          </a:p>
        </p:txBody>
      </p:sp>
      <p:sp>
        <p:nvSpPr>
          <p:cNvPr id="17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toán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8720"/>
            <a:ext cx="3840480" cy="54864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Off-Hours Access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nhạy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việc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kiện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 path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thuộc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nhạy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cảm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/admin, /api/v1/users, /internal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kiện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giờ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việc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</a:t>
            </a:r>
            <a:r>
              <a:rPr lang="en-US" sz="1100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</a:t>
            </a:r>
            <a:r>
              <a:rPr lang="en-US" sz="1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thỏa</a:t>
            </a:r>
            <a:r>
              <a:rPr lang="en-US" sz="1100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mãn</a:t>
            </a:r>
            <a:r>
              <a:rPr lang="en-US" sz="1100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00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</a:t>
            </a:r>
            <a:r>
              <a:rPr lang="en-US" sz="11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118872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188720"/>
            <a:ext cx="3840480" cy="54864"/>
          </a:xfrm>
          <a:prstGeom prst="rect">
            <a:avLst/>
          </a:prstGeom>
          <a:solidFill>
            <a:srgbClr val="EF5350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Silence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Dịch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vụ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ngừng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—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thể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gặp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sự</a:t>
            </a:r>
            <a:r>
              <a:rPr lang="en-US" sz="10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0" y="201168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b="1" dirty="0" err="1" smtClean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</a:t>
            </a:r>
            <a:r>
              <a:rPr lang="en-US" sz="1100" b="1" dirty="0" smtClean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 err="1" smtClean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hình</a:t>
            </a:r>
            <a:r>
              <a:rPr lang="en-US" sz="1100" b="1" dirty="0" smtClean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b="1" dirty="0">
                <a:solidFill>
                  <a:srgbClr val="FFC1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pha: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 1 (Evaluate):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đếm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log/service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dõi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≥ </a:t>
            </a: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</a:t>
            </a:r>
            <a:r>
              <a:rPr lang="en-US" sz="11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 2 (CheckSilence): heartbeat 30s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EF5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lang &gt; 5 phut → FIRE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</a:t>
            </a:r>
            <a:r>
              <a:rPr lang="en-US" sz="1100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16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nghĩa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log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Grafana &amp; Kibana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187032"/>
            <a:ext cx="2490973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187032"/>
            <a:ext cx="2490973" cy="4572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325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r>
              <a:rPr lang="en-US" sz="14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Dashboard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&amp; Anomaly Detection: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009992"/>
            <a:ext cx="2490973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tiếp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</a:t>
            </a:r>
            <a:r>
              <a:rPr lang="en-US" sz="10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gian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trễ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(p50/p95/p99)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rate </a:t>
            </a:r>
            <a:r>
              <a:rPr lang="en-US" sz="10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lag, ES errors, parse errors</a:t>
            </a:r>
            <a:endParaRPr lang="en-US" sz="1000" dirty="0"/>
          </a:p>
        </p:txBody>
      </p:sp>
      <p:pic>
        <p:nvPicPr>
          <p:cNvPr id="17" name="Picture 16"/>
          <p:cNvPicPr/>
          <p:nvPr/>
        </p:nvPicPr>
        <p:blipFill>
          <a:blip r:embed="rId3"/>
          <a:stretch>
            <a:fillRect/>
          </a:stretch>
        </p:blipFill>
        <p:spPr>
          <a:xfrm>
            <a:off x="3155315" y="1187032"/>
            <a:ext cx="5805805" cy="2901950"/>
          </a:xfrm>
          <a:prstGeom prst="rect">
            <a:avLst/>
          </a:prstGeom>
        </p:spPr>
      </p:pic>
      <p:sp>
        <p:nvSpPr>
          <p:cNvPr id="12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</a:t>
            </a: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giám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DE9"/>
          </a:solidFill>
          <a:ln/>
        </p:spPr>
      </p:sp>
      <p:sp>
        <p:nvSpPr>
          <p:cNvPr id="3" name="Text 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82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</a:t>
            </a: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giám</a:t>
            </a:r>
            <a:r>
              <a:rPr lang="en-US" sz="900" i="1" dirty="0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i="1" dirty="0" err="1" smtClean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Grafana &amp; Kibana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36367" y="1280160"/>
            <a:ext cx="2147306" cy="257932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6367" y="1243280"/>
            <a:ext cx="2147306" cy="56997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15" name="Text 13"/>
          <p:cNvSpPr/>
          <p:nvPr/>
        </p:nvSpPr>
        <p:spPr>
          <a:xfrm>
            <a:off x="536367" y="1405890"/>
            <a:ext cx="219026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r>
              <a:rPr lang="en-US" sz="14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Log Viewer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7052" y="1823162"/>
            <a:ext cx="2147306" cy="17795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Discover: </a:t>
            </a:r>
            <a:r>
              <a:rPr lang="en-US" sz="10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xem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</a:t>
            </a:r>
            <a:r>
              <a:rPr lang="en-US" sz="10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tiết</a:t>
            </a:r>
            <a:r>
              <a:rPr lang="en-US" sz="10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KQL filter: service, level, IP...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Data View tu dong: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Logs (logs-*)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 (anomalies)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endParaRPr lang="en-US" sz="1000" dirty="0"/>
          </a:p>
        </p:txBody>
      </p:sp>
      <p:pic>
        <p:nvPicPr>
          <p:cNvPr id="18" name="Picture 17"/>
          <p:cNvPicPr/>
          <p:nvPr/>
        </p:nvPicPr>
        <p:blipFill>
          <a:blip r:embed="rId3"/>
          <a:stretch>
            <a:fillRect/>
          </a:stretch>
        </p:blipFill>
        <p:spPr>
          <a:xfrm>
            <a:off x="2834640" y="1243280"/>
            <a:ext cx="5589270" cy="261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9417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9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22B45">
              <a:alpha val="7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2B7DE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</a:t>
            </a: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luận</a:t>
            </a: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</a:t>
            </a: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3200" b="1" dirty="0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dirty="0" err="1" smtClean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09728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097280"/>
            <a:ext cx="54864" cy="3200400"/>
          </a:xfrm>
          <a:prstGeom prst="rect">
            <a:avLst/>
          </a:prstGeom>
          <a:solidFill>
            <a:srgbClr val="00BFA5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</a:t>
            </a:r>
            <a:r>
              <a:rPr lang="en-US" sz="16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đạt</a:t>
            </a:r>
            <a:r>
              <a:rPr lang="en-US" sz="1600" b="1" dirty="0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trúc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Kafka + Go pipeline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thường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Xử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song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(Kafka, Worker, ES)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processing (SHA-256 doc ID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100" dirty="0" smtClean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Kibana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Prometheus</a:t>
            </a:r>
            <a:endParaRPr lang="en-US" sz="1100" dirty="0" smtClean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PASS: 180K msgs, 582 msg/s, 100%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3840480" cy="3200400"/>
          </a:xfrm>
          <a:prstGeom prst="rect">
            <a:avLst/>
          </a:prstGeom>
          <a:solidFill>
            <a:srgbClr val="162A46"/>
          </a:solidFill>
          <a:ln w="6350">
            <a:solidFill>
              <a:srgbClr val="1E3A5F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1188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</a:t>
            </a:r>
            <a:r>
              <a:rPr lang="en-US" sz="16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600" b="1" dirty="0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 smtClean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triển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1600200"/>
            <a:ext cx="3383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AlertChannel: Slack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Mail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tắc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dựa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Machine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instance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r>
              <a:rPr lang="en-US" sz="11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nâng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hơn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</a:t>
            </a:r>
            <a:r>
              <a:rPr lang="en-US" sz="1100" dirty="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tin metrics </a:t>
            </a:r>
            <a:r>
              <a:rPr lang="en-US" sz="1100" dirty="0" err="1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hơn</a:t>
            </a:r>
            <a:r>
              <a:rPr lang="en-US" sz="1100" smtClean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 | Event-Driven | Real-time Detection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1616</Words>
  <Application>Microsoft Office PowerPoint</Application>
  <PresentationFormat>On-screen Show (16:9)</PresentationFormat>
  <Paragraphs>372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 thong Phan tich Log va Phat hien Bat thuong Thoi gian thuc</dc:title>
  <dc:subject>PptxGenJS Presentation</dc:subject>
  <dc:creator>Log Analytics Team</dc:creator>
  <cp:lastModifiedBy>Nguyễn Tiến Lâm</cp:lastModifiedBy>
  <cp:revision>94</cp:revision>
  <dcterms:created xsi:type="dcterms:W3CDTF">2026-04-14T17:38:46Z</dcterms:created>
  <dcterms:modified xsi:type="dcterms:W3CDTF">2026-04-15T10:53:48Z</dcterms:modified>
</cp:coreProperties>
</file>