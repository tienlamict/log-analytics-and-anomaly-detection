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81" r:id="rId8"/>
    <p:sldId id="262" r:id="rId9"/>
    <p:sldId id="264" r:id="rId10"/>
    <p:sldId id="282" r:id="rId11"/>
    <p:sldId id="265" r:id="rId12"/>
    <p:sldId id="266" r:id="rId13"/>
    <p:sldId id="268" r:id="rId14"/>
    <p:sldId id="270" r:id="rId15"/>
    <p:sldId id="271" r:id="rId16"/>
    <p:sldId id="272" r:id="rId17"/>
    <p:sldId id="273" r:id="rId18"/>
    <p:sldId id="278" r:id="rId19"/>
    <p:sldId id="283" r:id="rId20"/>
    <p:sldId id="28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084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92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27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940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B45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B7DE9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85216" y="384810"/>
            <a:ext cx="73152" cy="2011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38481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PHÂN TÍCH LOG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PHÁT HIỆN BẤT THƯỜNG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THỜI GIAN THỰC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85216" y="239903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Log Analytics &amp; Anomaly Detection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 |  Apache Kafka  |  Elasticsearch  |  Kibana  |  Grafana  |  Prometheus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Pipeline  |  Sliding Window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4/2026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85216" y="2868295"/>
            <a:ext cx="3867658" cy="1061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i="1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</a:t>
            </a:r>
            <a:r>
              <a:rPr lang="en-US" sz="11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i="1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11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i="1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11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i="1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dẫn</a:t>
            </a:r>
            <a:r>
              <a:rPr lang="en-US" sz="11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TS. </a:t>
            </a:r>
            <a:r>
              <a:rPr lang="en-US" sz="1100" b="1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Trịnh</a:t>
            </a:r>
            <a:r>
              <a:rPr lang="en-US" sz="11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Tuấn</a:t>
            </a:r>
            <a:r>
              <a:rPr lang="en-US" sz="11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endParaRPr lang="en-US" sz="1100" b="1" i="1" dirty="0">
              <a:solidFill>
                <a:schemeClr val="accent5">
                  <a:lumMod val="60000"/>
                  <a:lumOff val="4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b="1" i="1" dirty="0" smtClean="0">
              <a:solidFill>
                <a:schemeClr val="accent5">
                  <a:lumMod val="60000"/>
                  <a:lumOff val="4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b="1" i="1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</a:t>
            </a:r>
            <a:r>
              <a:rPr lang="en-US" sz="11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5:</a:t>
            </a:r>
            <a:br>
              <a:rPr lang="en-US" sz="11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</a:t>
            </a:r>
            <a:r>
              <a:rPr lang="en-US" sz="1100" b="1" i="1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Đoàn</a:t>
            </a:r>
            <a:r>
              <a:rPr lang="en-US" sz="11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i="1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Ngọc</a:t>
            </a:r>
            <a:r>
              <a:rPr lang="en-US" sz="11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</a:t>
            </a:r>
            <a:r>
              <a:rPr lang="en-US" sz="11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20251067M </a:t>
            </a:r>
            <a:endParaRPr lang="en-US" sz="1100" b="1" i="1" dirty="0" smtClean="0">
              <a:solidFill>
                <a:schemeClr val="accent5">
                  <a:lumMod val="60000"/>
                  <a:lumOff val="4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Nguyễn Tiến </a:t>
            </a:r>
            <a:r>
              <a:rPr lang="en-US" sz="11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Lâm - 20251061M </a:t>
            </a:r>
            <a:endParaRPr lang="en-US" sz="11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" cy="320040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02920" cy="320040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600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502920" cy="3200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116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011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nghệ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423160"/>
            <a:ext cx="502920" cy="3200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231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423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50292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346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50292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461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246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50292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6576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444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840480" cy="329184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329184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</a:t>
            </a:r>
            <a:r>
              <a:rPr lang="en-US" sz="1600" b="1" dirty="0" smtClean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sinh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triệu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sớm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chục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54864" cy="32918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</a:t>
            </a:r>
            <a:r>
              <a:rPr lang="en-US" sz="16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qua Apache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dựa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trượt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trữ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Elasticsearch,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+ Grafana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Gioi thieu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1005840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63040"/>
            <a:ext cx="594360" cy="594360"/>
          </a:xfrm>
          <a:prstGeom prst="ellipse">
            <a:avLst/>
          </a:prstGeom>
          <a:solidFill>
            <a:srgbClr val="2B7DE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371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16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r>
              <a:rPr lang="en-US" sz="16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16916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nghìn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log/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giây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8046720" cy="100584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68880"/>
            <a:ext cx="54864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65176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2560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600" b="1" dirty="0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600" b="1" dirty="0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600" b="1" dirty="0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28803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spike, latency breach,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failure, auth burst, off-hours access,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silence.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657600"/>
            <a:ext cx="54864" cy="10058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840480"/>
            <a:ext cx="594360" cy="59436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r>
              <a:rPr lang="en-US" sz="16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sát</a:t>
            </a:r>
            <a:r>
              <a:rPr lang="en-US" sz="16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6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diện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0690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Grafana dashboard 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dõi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kiện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(Event-Driven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20240" cy="292608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19202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300" b="1" dirty="0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(Ingestion)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283464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371600"/>
            <a:ext cx="1920240" cy="292608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371600"/>
            <a:ext cx="192024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3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(Processing)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pipeline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worker goroutines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283464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371600"/>
            <a:ext cx="1920240" cy="292608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71600"/>
            <a:ext cx="192024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13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trữ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(Storage)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logs-YYYY.MM.DD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index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283464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371600"/>
            <a:ext cx="1920240" cy="292608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9440" y="1371600"/>
            <a:ext cx="192024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</a:t>
            </a:r>
            <a:r>
              <a:rPr lang="en-US" sz="1300" b="1" dirty="0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r>
              <a:rPr lang="en-US" sz="1300" b="1" dirty="0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(Visualization)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+ Grafana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lieu di chuyen mot chieu tu trai sang phai. Producer va consumer tach roi hoan toan qua Kafka.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endParaRPr lang="en-US" sz="2800" dirty="0"/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746" y="1005840"/>
            <a:ext cx="6402674" cy="342078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820014"/>
              </p:ext>
            </p:extLst>
          </p:nvPr>
        </p:nvGraphicFramePr>
        <p:xfrm>
          <a:off x="548638" y="1188722"/>
          <a:ext cx="7766878" cy="2935282"/>
        </p:xfrm>
        <a:graphic>
          <a:graphicData uri="http://schemas.openxmlformats.org/drawingml/2006/table">
            <a:tbl>
              <a:tblPr/>
              <a:tblGrid>
                <a:gridCol w="183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3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3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</a:t>
                      </a:r>
                      <a:r>
                        <a:rPr lang="en-US" sz="1100" b="1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="1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</a:t>
                      </a:r>
                      <a:r>
                        <a:rPr lang="en-US" sz="1100" b="1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="1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</a:t>
                      </a:r>
                      <a:r>
                        <a:rPr lang="en-US" sz="1100" b="1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="1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7.5 (KRaft)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Hàng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đợi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log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partitions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 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Lưu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trữ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</a:t>
                      </a:r>
                      <a:r>
                        <a:rPr lang="en-US" sz="110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vấn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+ anomaly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1.25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</a:t>
                      </a:r>
                      <a:r>
                        <a:rPr lang="en-US" sz="110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xử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lý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</a:t>
                      </a:r>
                      <a:r>
                        <a:rPr lang="en-US" sz="110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hiện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Viewer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Kibana 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Giao</a:t>
                      </a:r>
                      <a:r>
                        <a:rPr lang="en-US" sz="1100" baseline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diện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duyệt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(ELK)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 12.0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thập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Toan bo 8 container duoc dieu phoi boi Docker Compose. Health check dam bao thu tu khoi dong dung.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4199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&amp;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931920" cy="18288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broker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Giamr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840480" cy="18288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</a:t>
            </a:r>
            <a:r>
              <a:rPr lang="en-US" sz="14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14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</a:t>
            </a:r>
            <a:r>
              <a:rPr lang="en-US" sz="14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partitions —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song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I/O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buffer 1MB 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91840"/>
            <a:ext cx="804672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Delivery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sau khi message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channel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consumer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gặp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document ID trong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trùng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nghệ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nghệ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Golang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Goroutine vs Thread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ban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ngữ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cực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trăm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goroutine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truyền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tin an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840480" cy="164592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</a:t>
            </a:r>
            <a:r>
              <a:rPr lang="en-US" sz="14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viện</a:t>
            </a:r>
            <a:r>
              <a:rPr lang="en-US" sz="14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14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franz-go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9476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19476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router + middleware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2037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go-elasticsearch v9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220370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client + BulkIndexer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4597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errgroup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45973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goroutine lifecycle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8046720" cy="164592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errgroup — </a:t>
            </a:r>
            <a:r>
              <a:rPr lang="en-US" sz="1400" b="1" dirty="0" err="1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400" b="1" dirty="0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</a:t>
            </a:r>
            <a:r>
              <a:rPr lang="en-US" sz="1400" b="1" dirty="0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sz="1400" b="1" dirty="0" err="1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goroutine</a:t>
            </a: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400" b="1" dirty="0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3703320"/>
            <a:ext cx="1554480" cy="822960"/>
          </a:xfrm>
          <a:prstGeom prst="rect">
            <a:avLst/>
          </a:prstGeom>
          <a:solidFill>
            <a:srgbClr val="2B7DE9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03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3703320"/>
            <a:ext cx="1554480" cy="822960"/>
          </a:xfrm>
          <a:prstGeom prst="rect">
            <a:avLst/>
          </a:prstGeom>
          <a:solidFill>
            <a:srgbClr val="FF6B3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834640" y="3703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G2-G5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1554480" cy="822960"/>
          </a:xfrm>
          <a:prstGeom prst="rect">
            <a:avLst/>
          </a:prstGeom>
          <a:solidFill>
            <a:srgbClr val="00BFA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703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3703320"/>
            <a:ext cx="1554480" cy="822960"/>
          </a:xfrm>
          <a:prstGeom prst="rect">
            <a:avLst/>
          </a:prstGeom>
          <a:solidFill>
            <a:srgbClr val="4CAF5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75120" y="3703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nghệ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Golang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endParaRPr lang="en-US" sz="2800" dirty="0"/>
          </a:p>
        </p:txBody>
      </p:sp>
      <p:pic>
        <p:nvPicPr>
          <p:cNvPr id="32" name="Picture 3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35" y="1005840"/>
            <a:ext cx="7552085" cy="36945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8521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nghệ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thái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monitor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105156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1732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9.0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1600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5601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12801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chi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query language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8046720" cy="105156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2651760"/>
            <a:ext cx="594360" cy="594360"/>
          </a:xfrm>
          <a:prstGeom prst="ellipse">
            <a:avLst/>
          </a:prstGeom>
          <a:solidFill>
            <a:srgbClr val="2B7DE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12.0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7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3000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25146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metric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8046720" cy="105156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886200"/>
            <a:ext cx="594360" cy="59436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4592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3.4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4069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9090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374904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thập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giay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metric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consumed, latency,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anomaly, lag, write errors, parse errors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920240" cy="1463040"/>
          </a:xfrm>
          <a:prstGeom prst="rect">
            <a:avLst/>
          </a:prstGeom>
          <a:solidFill>
            <a:srgbClr val="162A46"/>
          </a:solidFill>
          <a:ln w="1905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PollFetches()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 partitions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828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20240" cy="1463040"/>
          </a:xfrm>
          <a:prstGeom prst="rect">
            <a:avLst/>
          </a:prstGeom>
          <a:solidFill>
            <a:srgbClr val="162A46"/>
          </a:solidFill>
          <a:ln w="19050">
            <a:solidFill>
              <a:srgbClr val="2B7D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buffer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Backpressure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nhiên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1828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1920240" cy="1463040"/>
          </a:xfrm>
          <a:prstGeom prst="rect">
            <a:avLst/>
          </a:prstGeom>
          <a:solidFill>
            <a:srgbClr val="162A46"/>
          </a:solidFill>
          <a:ln w="19050">
            <a:solidFill>
              <a:srgbClr val="00B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song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Index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1828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132320" y="1371600"/>
            <a:ext cx="1920240" cy="1463040"/>
          </a:xfrm>
          <a:prstGeom prst="rect">
            <a:avLst/>
          </a:prstGeom>
          <a:solidFill>
            <a:srgbClr val="162A46"/>
          </a:solidFill>
          <a:ln w="19050">
            <a:solidFill>
              <a:srgbClr val="4CAF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BulkIndexer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10MB / 5s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lô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Path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2468880" cy="1005840"/>
          </a:xfrm>
          <a:prstGeom prst="rect">
            <a:avLst/>
          </a:prstGeom>
          <a:solidFill>
            <a:srgbClr val="162A46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11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rules evaluate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3794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383280" y="3566160"/>
            <a:ext cx="2468880" cy="1005840"/>
          </a:xfrm>
          <a:prstGeom prst="rect">
            <a:avLst/>
          </a:prstGeom>
          <a:solidFill>
            <a:srgbClr val="162A46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611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 buffer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path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0" y="3794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217920" y="3566160"/>
            <a:ext cx="2468880" cy="1005840"/>
          </a:xfrm>
          <a:prstGeom prst="rect">
            <a:avLst/>
          </a:prstGeom>
          <a:solidFill>
            <a:srgbClr val="162A46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611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 Alert</a:t>
            </a:r>
            <a:endParaRPr lang="en-US" sz="1000" dirty="0"/>
          </a:p>
        </p:txBody>
      </p:sp>
      <p:sp>
        <p:nvSpPr>
          <p:cNvPr id="33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Pipeline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Pipeline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Worker Goroutines —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song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371600" cy="2743200"/>
          </a:xfrm>
          <a:prstGeom prst="rect">
            <a:avLst/>
          </a:prstGeom>
          <a:solidFill>
            <a:srgbClr val="2B7DE9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71600"/>
            <a:ext cx="1371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269748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9297" y="1280160"/>
            <a:ext cx="1463040" cy="594360"/>
          </a:xfrm>
          <a:prstGeom prst="rect">
            <a:avLst/>
          </a:prstGeom>
          <a:solidFill>
            <a:srgbClr val="00BFA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9297" y="1280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269748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9297" y="2011680"/>
            <a:ext cx="1463040" cy="594360"/>
          </a:xfrm>
          <a:prstGeom prst="rect">
            <a:avLst/>
          </a:prstGeom>
          <a:solidFill>
            <a:srgbClr val="00BFA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29297" y="20116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269748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9297" y="2743200"/>
            <a:ext cx="1463040" cy="594360"/>
          </a:xfrm>
          <a:prstGeom prst="rect">
            <a:avLst/>
          </a:prstGeom>
          <a:solidFill>
            <a:srgbClr val="00BFA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29297" y="27432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20240" y="269748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9297" y="3474720"/>
            <a:ext cx="1463040" cy="594360"/>
          </a:xfrm>
          <a:prstGeom prst="rect">
            <a:avLst/>
          </a:prstGeom>
          <a:solidFill>
            <a:srgbClr val="00BFA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29297" y="3474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1280160"/>
            <a:ext cx="1463040" cy="292608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1280160"/>
            <a:ext cx="146304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0" y="1828800"/>
            <a:ext cx="1280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-&gt; LogEntry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fallback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JSON loi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1280160"/>
            <a:ext cx="1463040" cy="292608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280160"/>
            <a:ext cx="146304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Index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1828800"/>
            <a:ext cx="1280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BulkIndexer.Add()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doc 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write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1280160"/>
            <a:ext cx="1463040" cy="292608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89520" y="1280160"/>
            <a:ext cx="146304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0" y="1828800"/>
            <a:ext cx="1280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engine.Evaluate()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rules check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-&gt; channel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runtime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nào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sàng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trượt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(Sliding Window)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029200" cy="22860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Buffer — Capacity 10,000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594360" cy="594360"/>
          </a:xfrm>
          <a:prstGeom prst="rect">
            <a:avLst/>
          </a:prstGeom>
          <a:solidFill>
            <a:srgbClr val="162A46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81328" y="1828800"/>
            <a:ext cx="594360" cy="594360"/>
          </a:xfrm>
          <a:prstGeom prst="rect">
            <a:avLst/>
          </a:prstGeom>
          <a:solidFill>
            <a:srgbClr val="162A46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09:58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39696" y="1828800"/>
            <a:ext cx="594360" cy="594360"/>
          </a:xfrm>
          <a:prstGeom prst="rect">
            <a:avLst/>
          </a:prstGeom>
          <a:solidFill>
            <a:srgbClr val="162A46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9696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98064" y="1828800"/>
            <a:ext cx="594360" cy="594360"/>
          </a:xfrm>
          <a:prstGeom prst="rect">
            <a:avLst/>
          </a:prstGeom>
          <a:solidFill>
            <a:srgbClr val="162A46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98064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56432" y="1828800"/>
            <a:ext cx="594360" cy="594360"/>
          </a:xfrm>
          <a:prstGeom prst="rect">
            <a:avLst/>
          </a:prstGeom>
          <a:solidFill>
            <a:srgbClr val="162A46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09:55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1828800"/>
            <a:ext cx="594360" cy="594360"/>
          </a:xfrm>
          <a:prstGeom prst="rect">
            <a:avLst/>
          </a:prstGeom>
          <a:solidFill>
            <a:srgbClr val="162A46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73168" y="1828800"/>
            <a:ext cx="594360" cy="594360"/>
          </a:xfrm>
          <a:prstGeom prst="rect">
            <a:avLst/>
          </a:prstGeom>
          <a:solidFill>
            <a:srgbClr val="0B1929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2560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 Trong window (&lt; 5 phut)   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 Ngoai window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834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KHONG tang dan — Kafka 3 partitions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song song nen phai scan TOAN BO buffer.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1188720"/>
            <a:ext cx="2743200" cy="22860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</a:t>
            </a:r>
            <a:r>
              <a:rPr lang="en-US" sz="14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26480" y="1691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19019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9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% cap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22585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CountWithin(d)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2468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Scan all, dem &gt; cutoff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28254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Evict(d)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30358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Compact, moi 30s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3749040"/>
            <a:ext cx="804672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day → Effective window bi rut ngan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41605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10,000 / 300s window = toi da 33 msg/s/service. Rate cao hon → entry moi ghi de entry cu → window thuc te &lt; 5 phut.</a:t>
            </a:r>
            <a:endParaRPr lang="en-US" sz="1100" dirty="0"/>
          </a:p>
        </p:txBody>
      </p:sp>
      <p:sp>
        <p:nvSpPr>
          <p:cNvPr id="36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nghĩa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Spike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tang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đột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errors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</a:t>
            </a: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dõi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service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4747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timestamp → CountWithin(5m) → ≥ 10 → FIRE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Threshold Breach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199" y="1645920"/>
            <a:ext cx="34642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cầu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càu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trễ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(timeout)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500ms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rate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11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4747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breach_rate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(breaches × 100) / total ≥ 20% → FIRE</a:t>
            </a:r>
            <a:endParaRPr lang="en-US" sz="1000" dirty="0"/>
          </a:p>
        </p:txBody>
      </p:sp>
      <p:sp>
        <p:nvSpPr>
          <p:cNvPr id="32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Fingerprinting: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+ hex → "X"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"timeout req abc1234 after 5000ms"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"timeout req X after Xms"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service|fingerprint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Nguong: ≥ 5 lan trong 5 phut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Failure Burst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0116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diện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failure: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login, unauthorized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Hoac: auth_result = "failure"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dõi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source_ip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username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failures / 5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IP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</a:t>
            </a:r>
            <a:endParaRPr lang="en-US" sz="1100" dirty="0"/>
          </a:p>
        </p:txBody>
      </p:sp>
      <p:sp>
        <p:nvSpPr>
          <p:cNvPr id="16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nghĩa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2800" dirty="0"/>
          </a:p>
        </p:txBody>
      </p:sp>
      <p:sp>
        <p:nvSpPr>
          <p:cNvPr id="17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Off-Hours Access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nhạy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kiện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path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nhạy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/admin, /api/v1/users, /internal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kiện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</a:t>
            </a:r>
            <a:r>
              <a:rPr lang="en-US" sz="1100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</a:t>
            </a:r>
            <a:r>
              <a:rPr lang="en-US" sz="11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thỏa</a:t>
            </a:r>
            <a:r>
              <a:rPr lang="en-US" sz="1100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mãn</a:t>
            </a:r>
            <a:r>
              <a:rPr lang="en-US" sz="1100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</a:t>
            </a:r>
            <a:r>
              <a:rPr lang="en-US" sz="11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Silence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ngừng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—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gặp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0116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 err="1" smtClean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1100" b="1" dirty="0" smtClean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 smtClean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1100" b="1" dirty="0" smtClean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pha: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 1 (Evaluate):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log/service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dõi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 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 2 (CheckSilence): heartbeat 30s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lang &gt; 5 phut → FIRE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</a:t>
            </a:r>
            <a:r>
              <a:rPr lang="en-US" sz="11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6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nghĩa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Grafana &amp; Kibana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7032"/>
            <a:ext cx="2490973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7032"/>
            <a:ext cx="2490973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r>
              <a:rPr lang="en-US" sz="1400" b="1" dirty="0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&amp; Anomaly Detection: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09992"/>
            <a:ext cx="249097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</a:t>
            </a:r>
            <a:r>
              <a:rPr lang="en-US" sz="10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trễ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(p50/p95/p99)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rate </a:t>
            </a:r>
            <a:r>
              <a:rPr lang="en-US" sz="10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lag, ES errors, parse errors</a:t>
            </a:r>
            <a:endParaRPr lang="en-US" sz="1000" dirty="0"/>
          </a:p>
        </p:txBody>
      </p:sp>
      <p:pic>
        <p:nvPicPr>
          <p:cNvPr id="17" name="Picture 16"/>
          <p:cNvPicPr/>
          <p:nvPr/>
        </p:nvPicPr>
        <p:blipFill>
          <a:blip r:embed="rId3"/>
          <a:stretch>
            <a:fillRect/>
          </a:stretch>
        </p:blipFill>
        <p:spPr>
          <a:xfrm>
            <a:off x="3155315" y="1187032"/>
            <a:ext cx="5805805" cy="2901950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</a:t>
            </a: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</a:t>
            </a: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Grafana &amp; Kibana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36367" y="1280160"/>
            <a:ext cx="2147306" cy="257932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6367" y="1243280"/>
            <a:ext cx="2147306" cy="56997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536367" y="1405890"/>
            <a:ext cx="2190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r>
              <a:rPr lang="en-US" sz="14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Log Viewer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7052" y="1823162"/>
            <a:ext cx="2147306" cy="17795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Discover: </a:t>
            </a:r>
            <a:r>
              <a:rPr lang="en-US" sz="10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filter: service, level, IP...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Data View tu dong: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Logs (logs-*)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(anomalies)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</p:txBody>
      </p:sp>
      <p:pic>
        <p:nvPicPr>
          <p:cNvPr id="18" name="Picture 17"/>
          <p:cNvPicPr/>
          <p:nvPr/>
        </p:nvPicPr>
        <p:blipFill>
          <a:blip r:embed="rId3"/>
          <a:stretch>
            <a:fillRect/>
          </a:stretch>
        </p:blipFill>
        <p:spPr>
          <a:xfrm>
            <a:off x="2834640" y="1243280"/>
            <a:ext cx="5589270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417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B4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B7DE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luận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54864" cy="32004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</a:t>
            </a:r>
            <a:r>
              <a:rPr lang="en-US" sz="16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r>
              <a:rPr lang="en-US" sz="16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6002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Go pipeline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song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(Kafka, Worker, 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processing (SHA-256 doc ID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 smtClean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Prometheus</a:t>
            </a:r>
            <a:endParaRPr lang="en-US" sz="1100" dirty="0" smtClean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PASS: 180K msgs, 582 msg/s, 100%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4864" cy="3200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1600" b="1" dirty="0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600" b="1" dirty="0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6002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AlertChannel: Slack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Mail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tắc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Machine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instance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tin metrics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</a:t>
            </a:r>
            <a:r>
              <a:rPr lang="en-US" sz="110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| Event-Driven | Real-time Detection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1616</Words>
  <Application>Microsoft Office PowerPoint</Application>
  <PresentationFormat>On-screen Show (16:9)</PresentationFormat>
  <Paragraphs>372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 thong Phan tich Log va Phat hien Bat thuong Thoi gian thuc</dc:title>
  <dc:subject>PptxGenJS Presentation</dc:subject>
  <dc:creator>Log Analytics Team</dc:creator>
  <cp:lastModifiedBy>Nguyễn Tiến Lâm</cp:lastModifiedBy>
  <cp:revision>95</cp:revision>
  <dcterms:created xsi:type="dcterms:W3CDTF">2026-04-14T17:38:46Z</dcterms:created>
  <dcterms:modified xsi:type="dcterms:W3CDTF">2026-04-15T11:38:25Z</dcterms:modified>
</cp:coreProperties>
</file>